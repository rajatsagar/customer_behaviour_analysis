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Customer Shopping
Behavior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DDCEB"/>
                </a:solidFill>
              </a:rPr>
              <a:t>Python • PostgreSQL / SQL •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86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Transactional analysis of 3,900 customer purchases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E7D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492240" cy="4389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A32"/>
                </a:solidFill>
              </a:defRPr>
            </a:pPr>
            <a:r>
              <a:t>Analyze customer shopping behavior using transactional data from 3,900 purchases.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2"/>
                </a:solidFill>
              </a:defRPr>
            </a:pPr>
            <a:r>
              <a:t>Understand spending patterns and customer segments.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2"/>
                </a:solidFill>
              </a:defRPr>
            </a:pPr>
            <a:r>
              <a:t>Identify product preferences and subscription behavior.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2"/>
                </a:solidFill>
              </a:defRPr>
            </a:pPr>
            <a:r>
              <a:t>Translate findings into business decisions and recommendations.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508760"/>
            <a:ext cx="18288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2C6EB4"/>
                </a:solidFill>
              </a:rPr>
              <a:t>3,900</a:t>
            </a:r>
          </a:p>
          <a:p>
            <a:pPr algn="ctr"/>
            <a:r>
              <a:rPr sz="1100">
                <a:solidFill>
                  <a:srgbClr val="5F6E7D"/>
                </a:solidFill>
              </a:rPr>
              <a:t>Purchases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1508760"/>
            <a:ext cx="18288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2C6EB4"/>
                </a:solidFill>
              </a:rPr>
              <a:t>18</a:t>
            </a:r>
          </a:p>
          <a:p>
            <a:pPr algn="ctr"/>
            <a:r>
              <a:rPr sz="1100">
                <a:solidFill>
                  <a:srgbClr val="5F6E7D"/>
                </a:solidFill>
              </a:rPr>
              <a:t>Columns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3154680"/>
            <a:ext cx="384048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2C6EB4"/>
                </a:solidFill>
              </a:rPr>
              <a:t>37</a:t>
            </a:r>
          </a:p>
          <a:p>
            <a:pPr algn="ctr"/>
            <a:r>
              <a:rPr sz="1100">
                <a:solidFill>
                  <a:srgbClr val="5F6E7D"/>
                </a:solidFill>
              </a:rPr>
              <a:t>Missing Review Ratings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E7D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2. Dataset &amp; 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6583680" cy="53035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32A32"/>
                </a:solidFill>
              </a:defRPr>
            </a:pPr>
            <a:r>
              <a:t>Customer demographics: Age, Gender, Location, Subscription Status.</a:t>
            </a:r>
          </a:p>
          <a:p>
            <a:pPr>
              <a:spcAft>
                <a:spcPts val="1000"/>
              </a:spcAft>
              <a:defRPr sz="1600" b="0">
                <a:solidFill>
                  <a:srgbClr val="232A32"/>
                </a:solidFill>
              </a:defRPr>
            </a:pPr>
            <a:r>
              <a:t>Purchase details: Item Purchased, Category, Purchase Amount, Season, Size, Color.</a:t>
            </a:r>
          </a:p>
          <a:p>
            <a:pPr>
              <a:spcAft>
                <a:spcPts val="1000"/>
              </a:spcAft>
              <a:defRPr sz="1600" b="0">
                <a:solidFill>
                  <a:srgbClr val="232A32"/>
                </a:solidFill>
              </a:defRPr>
            </a:pPr>
            <a:r>
              <a:t>Shopping behavior: Discount Applied, Promo Code Used, Previous Purchases, Frequency of Purchases, Review Rating, Shipping Type.</a:t>
            </a:r>
          </a:p>
          <a:p>
            <a:pPr>
              <a:spcAft>
                <a:spcPts val="1000"/>
              </a:spcAft>
              <a:defRPr sz="1600" b="0">
                <a:solidFill>
                  <a:srgbClr val="232A32"/>
                </a:solidFill>
              </a:defRPr>
            </a:pPr>
            <a:r>
              <a:t>Python/pandas was used for loading, exploration, summary statistics, cleaning, and preparation.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232A32"/>
                </a:solidFill>
              </a:defRPr>
            </a:pPr>
            <a:r>
              <a:t>37 missing values in Review Rating were imputed using the median rating of each product category.</a:t>
            </a:r>
          </a:p>
          <a:p>
            <a:pPr>
              <a:spcAft>
                <a:spcPts val="1000"/>
              </a:spcAft>
              <a:defRPr sz="1600" b="0">
                <a:solidFill>
                  <a:srgbClr val="232A32"/>
                </a:solidFill>
              </a:defRPr>
            </a:pPr>
            <a:r>
              <a:t>Columns were standardized to snake_case for readability.</a:t>
            </a:r>
          </a:p>
        </p:txBody>
      </p:sp>
      <p:pic>
        <p:nvPicPr>
          <p:cNvPr id="6" name="Picture 5" descr="csba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143000"/>
            <a:ext cx="416052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E7D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3. Feature Engineering &amp; SQL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5760720" cy="5120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A32"/>
                </a:solidFill>
              </a:defRPr>
            </a:pPr>
            <a:r>
              <a:t>Created age_group by binning customer ages.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2"/>
                </a:solidFill>
              </a:defRPr>
            </a:pPr>
            <a:r>
              <a:t>Created purchase_frequency_days from purchase data.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2"/>
                </a:solidFill>
              </a:defRPr>
            </a:pPr>
            <a:r>
              <a:t>Checked discount_applied and promo_code_used for redundancy; promo_code_used was dropped.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2"/>
                </a:solidFill>
              </a:defRPr>
            </a:pPr>
            <a:r>
              <a:t>Connected the cleaned Python DataFrame to PostgreSQL for structured SQL analysis.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2"/>
                </a:solidFill>
              </a:defRPr>
            </a:pPr>
            <a:r>
              <a:t>SQL analysis focused on revenue, high-spending discount users, product ratings, shipping, subscriptions, segmentation, and repeat buying.</a:t>
            </a:r>
          </a:p>
        </p:txBody>
      </p:sp>
      <p:pic>
        <p:nvPicPr>
          <p:cNvPr id="6" name="Picture 5" descr="csba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097280"/>
            <a:ext cx="4892040" cy="5349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E7D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4. Key SQL Results — Revenue &amp; Spending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3840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marL="54864" marR="54864" marT="36576" marB="36576">
                    <a:solidFill>
                      <a:srgbClr val="18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 marL="54864" marR="54864" marT="36576" marB="36576">
                    <a:solidFill>
                      <a:srgbClr val="18365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A32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A32"/>
                          </a:solidFill>
                        </a:defRPr>
                      </a:pPr>
                      <a:r>
                        <a:t>$75,191</a:t>
                      </a:r>
                    </a:p>
                  </a:txBody>
                  <a:tcPr marL="54864" marR="54864" marT="36576" marB="36576"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A32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A32"/>
                          </a:solidFill>
                        </a:defRPr>
                      </a:pPr>
                      <a:r>
                        <a:t>$157,890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983480" y="1234440"/>
            <a:ext cx="6217920" cy="2743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A32"/>
                </a:solidFill>
              </a:defRPr>
            </a:pPr>
            <a:r>
              <a:t>High-Spending Discount Users: 839 customers met the analysis condition of using discounts while spending above the average purchase amount.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2"/>
                </a:solidFill>
              </a:defRPr>
            </a:pPr>
            <a:r>
              <a:t>This highlights a sizeable group that combines promotional usage with relatively high purchase value.</a:t>
            </a:r>
          </a:p>
        </p:txBody>
      </p:sp>
      <p:pic>
        <p:nvPicPr>
          <p:cNvPr id="7" name="Picture 6" descr="csba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520440"/>
            <a:ext cx="4572000" cy="2514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E7D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5. Product Ratings, Shipping &amp; Subscription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097280"/>
          <a:ext cx="38404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</a:tblGrid>
              <a:tr h="5105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Top-rated product</a:t>
                      </a:r>
                    </a:p>
                  </a:txBody>
                  <a:tcPr marL="54864" marR="54864" marT="36576" marB="36576">
                    <a:solidFill>
                      <a:srgbClr val="18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Avg. Rating</a:t>
                      </a:r>
                    </a:p>
                  </a:txBody>
                  <a:tcPr marL="54864" marR="54864" marT="36576" marB="36576">
                    <a:solidFill>
                      <a:srgbClr val="18365D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2"/>
                          </a:solidFill>
                        </a:defRPr>
                      </a:pPr>
                      <a:r>
                        <a:t>Gloves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2"/>
                          </a:solidFill>
                        </a:defRPr>
                      </a:pPr>
                      <a:r>
                        <a:t>3.86</a:t>
                      </a:r>
                    </a:p>
                  </a:txBody>
                  <a:tcPr marL="54864" marR="54864" marT="36576" marB="36576"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2"/>
                          </a:solidFill>
                        </a:defRPr>
                      </a:pPr>
                      <a:r>
                        <a:t>Sandals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2"/>
                          </a:solidFill>
                        </a:defRPr>
                      </a:pPr>
                      <a:r>
                        <a:t>3.84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2"/>
                          </a:solidFill>
                        </a:defRPr>
                      </a:pPr>
                      <a:r>
                        <a:t>Boots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2"/>
                          </a:solidFill>
                        </a:defRPr>
                      </a:pPr>
                      <a:r>
                        <a:t>3.82</a:t>
                      </a:r>
                    </a:p>
                  </a:txBody>
                  <a:tcPr marL="54864" marR="54864" marT="36576" marB="36576"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2"/>
                          </a:solidFill>
                        </a:defRPr>
                      </a:pPr>
                      <a:r>
                        <a:t>Hat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2"/>
                          </a:solidFill>
                        </a:defRPr>
                      </a:pPr>
                      <a:r>
                        <a:t>3.80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2"/>
                          </a:solidFill>
                        </a:defRPr>
                      </a:pPr>
                      <a:r>
                        <a:t>Skirt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2"/>
                          </a:solidFill>
                        </a:defRPr>
                      </a:pPr>
                      <a:r>
                        <a:t>3.78</a:t>
                      </a:r>
                    </a:p>
                  </a:txBody>
                  <a:tcPr marL="54864" marR="54864" marT="36576" marB="36576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17720" y="1097280"/>
          <a:ext cx="3063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20"/>
                <a:gridCol w="1531620"/>
              </a:tblGrid>
              <a:tr h="6553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Shipping Type</a:t>
                      </a:r>
                    </a:p>
                  </a:txBody>
                  <a:tcPr marL="54864" marR="54864" marT="36576" marB="36576">
                    <a:solidFill>
                      <a:srgbClr val="18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Avg. Purchase</a:t>
                      </a:r>
                    </a:p>
                  </a:txBody>
                  <a:tcPr marL="54864" marR="54864" marT="36576" marB="36576">
                    <a:solidFill>
                      <a:srgbClr val="18365D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Standard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58.46</a:t>
                      </a:r>
                    </a:p>
                  </a:txBody>
                  <a:tcPr marL="54864" marR="54864" marT="36576" marB="36576"/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Express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60.48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818120" y="1097280"/>
          <a:ext cx="379476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690"/>
                <a:gridCol w="948690"/>
                <a:gridCol w="948690"/>
                <a:gridCol w="948690"/>
              </a:tblGrid>
              <a:tr h="655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Subscription</a:t>
                      </a:r>
                    </a:p>
                  </a:txBody>
                  <a:tcPr marL="54864" marR="54864" marT="36576" marB="36576">
                    <a:solidFill>
                      <a:srgbClr val="18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Customers</a:t>
                      </a:r>
                    </a:p>
                  </a:txBody>
                  <a:tcPr marL="54864" marR="54864" marT="36576" marB="36576">
                    <a:solidFill>
                      <a:srgbClr val="18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Avg Spend</a:t>
                      </a:r>
                    </a:p>
                  </a:txBody>
                  <a:tcPr marL="54864" marR="54864" marT="36576" marB="36576">
                    <a:solidFill>
                      <a:srgbClr val="18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 marL="54864" marR="54864" marT="36576" marB="36576">
                    <a:solidFill>
                      <a:srgbClr val="18365D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2"/>
                          </a:solidFill>
                        </a:defRPr>
                      </a:pPr>
                      <a:r>
                        <a:t>1,053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2"/>
                          </a:solidFill>
                        </a:defRPr>
                      </a:pPr>
                      <a:r>
                        <a:t>59.49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2"/>
                          </a:solidFill>
                        </a:defRPr>
                      </a:pPr>
                      <a:r>
                        <a:t>62,645</a:t>
                      </a:r>
                    </a:p>
                  </a:txBody>
                  <a:tcPr marL="54864" marR="54864" marT="36576" marB="36576"/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2"/>
                          </a:solidFill>
                        </a:defRPr>
                      </a:pPr>
                      <a:r>
                        <a:t>2,847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2"/>
                          </a:solidFill>
                        </a:defRPr>
                      </a:pPr>
                      <a:r>
                        <a:t>59.87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2"/>
                          </a:solidFill>
                        </a:defRPr>
                      </a:pPr>
                      <a:r>
                        <a:t>170,436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663440" y="3429000"/>
            <a:ext cx="6583680" cy="1828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32A32"/>
                </a:solidFill>
              </a:defRPr>
            </a:pPr>
            <a:r>
              <a:t>The report compares average purchase amounts for Standard and Express shipping.</a:t>
            </a:r>
          </a:p>
          <a:p>
            <a:pPr>
              <a:spcAft>
                <a:spcPts val="1000"/>
              </a:spcAft>
              <a:defRPr sz="1600" b="0">
                <a:solidFill>
                  <a:srgbClr val="232A32"/>
                </a:solidFill>
              </a:defRPr>
            </a:pPr>
            <a:r>
              <a:t>It also compares subscriber and non-subscriber customer counts, average spend, and total revenue.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E7D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6. Discount-Dependent Products &amp; Customer Segmentation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3931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 marL="54864" marR="54864" marT="36576" marB="36576">
                    <a:solidFill>
                      <a:srgbClr val="18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Discount Rate</a:t>
                      </a:r>
                    </a:p>
                  </a:txBody>
                  <a:tcPr marL="54864" marR="54864" marT="36576" marB="36576">
                    <a:solidFill>
                      <a:srgbClr val="18365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Hat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50.00%</a:t>
                      </a:r>
                    </a:p>
                  </a:txBody>
                  <a:tcPr marL="54864" marR="54864" marT="36576" marB="36576"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Sneakers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49.66%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Coat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49.07%</a:t>
                      </a:r>
                    </a:p>
                  </a:txBody>
                  <a:tcPr marL="54864" marR="54864" marT="36576" marB="36576"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Sweater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48.17%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Pants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47.37%</a:t>
                      </a:r>
                    </a:p>
                  </a:txBody>
                  <a:tcPr marL="54864" marR="54864" marT="36576" marB="36576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74920" y="1234440"/>
          <a:ext cx="38862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</a:tblGrid>
              <a:tr h="61722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Customer Segment</a:t>
                      </a:r>
                    </a:p>
                  </a:txBody>
                  <a:tcPr marL="54864" marR="54864" marT="36576" marB="36576">
                    <a:solidFill>
                      <a:srgbClr val="18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Customers</a:t>
                      </a:r>
                    </a:p>
                  </a:txBody>
                  <a:tcPr marL="54864" marR="54864" marT="36576" marB="36576">
                    <a:solidFill>
                      <a:srgbClr val="18365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A32"/>
                          </a:solidFill>
                        </a:defRPr>
                      </a:pPr>
                      <a:r>
                        <a:t>Loyal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A32"/>
                          </a:solidFill>
                        </a:defRPr>
                      </a:pPr>
                      <a:r>
                        <a:t>3,116</a:t>
                      </a:r>
                    </a:p>
                  </a:txBody>
                  <a:tcPr marL="54864" marR="54864" marT="36576" marB="36576"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A32"/>
                          </a:solidFill>
                        </a:defRPr>
                      </a:pPr>
                      <a:r>
                        <a:t>Returning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A32"/>
                          </a:solidFill>
                        </a:defRPr>
                      </a:pPr>
                      <a:r>
                        <a:t>701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A32"/>
                          </a:solidFill>
                        </a:defRPr>
                      </a:pPr>
                      <a:r>
                        <a:t>New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A32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 marL="54864" marR="54864" marT="36576" marB="36576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120640" y="4069080"/>
            <a:ext cx="5943600" cy="1554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32A32"/>
                </a:solidFill>
              </a:defRPr>
            </a:pPr>
            <a:r>
              <a:t>Customer segmentation was based on purchase history.</a:t>
            </a:r>
          </a:p>
          <a:p>
            <a:pPr>
              <a:spcAft>
                <a:spcPts val="1000"/>
              </a:spcAft>
              <a:defRPr sz="1600" b="0">
                <a:solidFill>
                  <a:srgbClr val="232A32"/>
                </a:solidFill>
              </a:defRPr>
            </a:pPr>
            <a:r>
              <a:t>The report identifies products with the highest percentage of discounted purchases.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E7D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7. Product Rankings, Repeat Buyers &amp; Age Groups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4663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marL="54864" marR="54864" marT="36576" marB="36576">
                    <a:solidFill>
                      <a:srgbClr val="18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Top Product</a:t>
                      </a:r>
                    </a:p>
                  </a:txBody>
                  <a:tcPr marL="54864" marR="54864" marT="36576" marB="36576">
                    <a:solidFill>
                      <a:srgbClr val="18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 marL="54864" marR="54864" marT="36576" marB="36576">
                    <a:solidFill>
                      <a:srgbClr val="18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2"/>
                          </a:solidFill>
                        </a:defRPr>
                      </a:pPr>
                      <a:r>
                        <a:t>Accessories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2"/>
                          </a:solidFill>
                        </a:defRPr>
                      </a:pPr>
                      <a:r>
                        <a:t>Jewelry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2"/>
                          </a:solidFill>
                        </a:defRPr>
                      </a:pPr>
                      <a:r>
                        <a:t>171</a:t>
                      </a:r>
                    </a:p>
                  </a:txBody>
                  <a:tcPr marL="54864" marR="54864" marT="36576" marB="36576"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2"/>
                          </a:solidFill>
                        </a:defRPr>
                      </a:pPr>
                      <a:r>
                        <a:t>Clothing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2"/>
                          </a:solidFill>
                        </a:defRPr>
                      </a:pPr>
                      <a:r>
                        <a:t>Blouse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2"/>
                          </a:solidFill>
                        </a:defRPr>
                      </a:pPr>
                      <a:r>
                        <a:t>171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2"/>
                          </a:solidFill>
                        </a:defRPr>
                      </a:pPr>
                      <a:r>
                        <a:t>Footwear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2"/>
                          </a:solidFill>
                        </a:defRPr>
                      </a:pPr>
                      <a:r>
                        <a:t>Sandals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2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 marL="54864" marR="54864" marT="36576" marB="36576"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2"/>
                          </a:solidFill>
                        </a:defRPr>
                      </a:pPr>
                      <a:r>
                        <a:t>Outerwear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2"/>
                          </a:solidFill>
                        </a:defRPr>
                      </a:pPr>
                      <a:r>
                        <a:t>Jacket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2"/>
                          </a:solidFill>
                        </a:defRPr>
                      </a:pPr>
                      <a:r>
                        <a:t>163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0" y="1097280"/>
          <a:ext cx="30175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50876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Subscription</a:t>
                      </a:r>
                    </a:p>
                  </a:txBody>
                  <a:tcPr marL="54864" marR="54864" marT="36576" marB="36576">
                    <a:solidFill>
                      <a:srgbClr val="18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Repeat Buyers</a:t>
                      </a:r>
                    </a:p>
                  </a:txBody>
                  <a:tcPr marL="54864" marR="54864" marT="36576" marB="36576">
                    <a:solidFill>
                      <a:srgbClr val="18365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2,518</a:t>
                      </a:r>
                    </a:p>
                  </a:txBody>
                  <a:tcPr marL="54864" marR="54864" marT="36576" marB="36576"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958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732520" y="1097280"/>
          <a:ext cx="2834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marL="54864" marR="54864" marT="36576" marB="36576">
                    <a:solidFill>
                      <a:srgbClr val="18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 marL="54864" marR="54864" marT="36576" marB="36576">
                    <a:solidFill>
                      <a:srgbClr val="18365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Young Adult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62,143</a:t>
                      </a:r>
                    </a:p>
                  </a:txBody>
                  <a:tcPr marL="54864" marR="54864" marT="36576" marB="36576"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Middle-aged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59,197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Adult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55,978</a:t>
                      </a:r>
                    </a:p>
                  </a:txBody>
                  <a:tcPr marL="54864" marR="54864" marT="36576" marB="36576"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Senior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A32"/>
                          </a:solidFill>
                        </a:defRPr>
                      </a:pPr>
                      <a:r>
                        <a:t>55,763</a:t>
                      </a: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0" y="3657600"/>
            <a:ext cx="5943600" cy="1828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32A32"/>
                </a:solidFill>
              </a:defRPr>
            </a:pPr>
            <a:r>
              <a:t>Top-3 products were listed for each category in the SQL analysis.</a:t>
            </a:r>
          </a:p>
          <a:p>
            <a:pPr>
              <a:spcAft>
                <a:spcPts val="1000"/>
              </a:spcAft>
              <a:defRPr sz="1600" b="0">
                <a:solidFill>
                  <a:srgbClr val="232A32"/>
                </a:solidFill>
              </a:defRPr>
            </a:pPr>
            <a:r>
              <a:t>Revenue by age group was calculated to identify the contribution of each customer age segment.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E7D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8. Dashboard in Power BI</a:t>
            </a:r>
          </a:p>
        </p:txBody>
      </p:sp>
      <p:pic>
        <p:nvPicPr>
          <p:cNvPr id="5" name="Picture 4" descr="csba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10927080" cy="5440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E7D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9. Business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10835640" cy="804672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8365D"/>
                </a:solidFill>
              </a:rPr>
              <a:t>Boost Subscriptions — </a:t>
            </a:r>
            <a:r>
              <a:rPr sz="1700">
                <a:solidFill>
                  <a:srgbClr val="232A32"/>
                </a:solidFill>
              </a:rPr>
              <a:t>Promote exclusive benefits for subscribers.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75688"/>
            <a:ext cx="10835640" cy="804672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8365D"/>
                </a:solidFill>
              </a:rPr>
              <a:t>Customer Loyalty Programs — </a:t>
            </a:r>
            <a:r>
              <a:rPr sz="1700">
                <a:solidFill>
                  <a:srgbClr val="232A32"/>
                </a:solidFill>
              </a:rPr>
              <a:t>Reward repeat buyers to move them into the “Loyal” segment.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008376"/>
            <a:ext cx="10835640" cy="804672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8365D"/>
                </a:solidFill>
              </a:rPr>
              <a:t>Review Discount Policy — </a:t>
            </a:r>
            <a:r>
              <a:rPr sz="1700">
                <a:solidFill>
                  <a:srgbClr val="232A32"/>
                </a:solidFill>
              </a:rPr>
              <a:t>Balance sales boosts with margin control.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941064"/>
            <a:ext cx="10835640" cy="804672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8365D"/>
                </a:solidFill>
              </a:rPr>
              <a:t>Product Positioning — </a:t>
            </a:r>
            <a:r>
              <a:rPr sz="1700">
                <a:solidFill>
                  <a:srgbClr val="232A32"/>
                </a:solidFill>
              </a:rPr>
              <a:t>Highlight top-rated and best-selling products in campaigns.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873752"/>
            <a:ext cx="10835640" cy="804672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8365D"/>
                </a:solidFill>
              </a:rPr>
              <a:t>Targeted Marketing — </a:t>
            </a:r>
            <a:r>
              <a:rPr sz="1700">
                <a:solidFill>
                  <a:srgbClr val="232A32"/>
                </a:solidFill>
              </a:rPr>
              <a:t>Focus efforts on high-revenue age groups and express-shipping users.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E7D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10.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4389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</a:defRPr>
            </a:pPr>
            <a:r>
              <a:t>The project combines Python data preparation, PostgreSQL/SQL business analysis, and Power BI visualization.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</a:defRPr>
            </a:pPr>
            <a:r>
              <a:t>The analysis covers customer demographics, purchase behavior, discounts, product ratings, shipping, subscriptions, segmentation, and age-group revenue.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</a:defRPr>
            </a:pPr>
            <a:r>
              <a:t>The resulting dashboard provides an interactive visual layer for communicating the analyzed customer-shopping patterns.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</a:defRPr>
            </a:pPr>
            <a:r>
              <a:t>The documented recommendations connect the analysis to subscription growth, loyalty, pricing/discount control, product promotion, and targeted marketing.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166360"/>
            <a:ext cx="301752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2C6EB4"/>
                </a:solidFill>
              </a:rPr>
              <a:t>Python</a:t>
            </a:r>
          </a:p>
          <a:p>
            <a:pPr algn="ctr"/>
            <a:r>
              <a:rPr sz="1100">
                <a:solidFill>
                  <a:srgbClr val="5F6E7D"/>
                </a:solidFill>
              </a:rPr>
              <a:t>Clean &amp; prepare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5166360"/>
            <a:ext cx="301752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2C6EB4"/>
                </a:solidFill>
              </a:rPr>
              <a:t>SQL</a:t>
            </a:r>
          </a:p>
          <a:p>
            <a:pPr algn="ctr"/>
            <a:r>
              <a:rPr sz="1100">
                <a:solidFill>
                  <a:srgbClr val="5F6E7D"/>
                </a:solidFill>
              </a:rPr>
              <a:t>Analyze business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5166360"/>
            <a:ext cx="301752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2C6EB4"/>
                </a:solidFill>
              </a:rPr>
              <a:t>Power BI</a:t>
            </a:r>
          </a:p>
          <a:p>
            <a:pPr algn="ctr"/>
            <a:r>
              <a:rPr sz="1100">
                <a:solidFill>
                  <a:srgbClr val="5F6E7D"/>
                </a:solidFill>
              </a:rPr>
              <a:t>Visualize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E7D"/>
                </a:solidFill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